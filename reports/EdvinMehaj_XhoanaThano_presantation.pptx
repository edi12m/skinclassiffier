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8B43D-BFD5-460F-93C3-D4ADB685D813}" v="992" dt="2026-01-18T20:30:05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E967C1-9190-42A5-8C3A-93EE1F40662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8FF91D-66FE-4F4F-A8BF-27562D57993E}">
      <dgm:prSet/>
      <dgm:spPr/>
      <dgm:t>
        <a:bodyPr/>
        <a:lstStyle/>
        <a:p>
          <a:r>
            <a:rPr lang="en-US"/>
            <a:t>Skin cancer is one of the most common cancers worldwide, and early detection is crucial for effective treatment.</a:t>
          </a:r>
        </a:p>
      </dgm:t>
    </dgm:pt>
    <dgm:pt modelId="{A88FEF27-90D1-427E-866B-2F0ED123D4F3}" type="parTrans" cxnId="{2C70B84C-DC39-4A5D-BCF0-329B75593EBD}">
      <dgm:prSet/>
      <dgm:spPr/>
      <dgm:t>
        <a:bodyPr/>
        <a:lstStyle/>
        <a:p>
          <a:endParaRPr lang="en-US"/>
        </a:p>
      </dgm:t>
    </dgm:pt>
    <dgm:pt modelId="{1BCF42CA-1BA0-4131-822F-600F32CE9103}" type="sibTrans" cxnId="{2C70B84C-DC39-4A5D-BCF0-329B75593EBD}">
      <dgm:prSet/>
      <dgm:spPr/>
      <dgm:t>
        <a:bodyPr/>
        <a:lstStyle/>
        <a:p>
          <a:endParaRPr lang="en-US"/>
        </a:p>
      </dgm:t>
    </dgm:pt>
    <dgm:pt modelId="{2D3EA797-863C-45D6-8DCD-CFD6AE99C234}">
      <dgm:prSet/>
      <dgm:spPr/>
      <dgm:t>
        <a:bodyPr/>
        <a:lstStyle/>
        <a:p>
          <a:r>
            <a:rPr lang="en-US"/>
            <a:t>The goal of this project is to develop a hybrid classification system combining a deep learning convolutional neural network (CNN) with a simple rule-based model to identify skin lesions and provide interpretable predictions.</a:t>
          </a:r>
        </a:p>
      </dgm:t>
    </dgm:pt>
    <dgm:pt modelId="{F6F4BE8F-1032-4631-969F-B0AFB5B0FFEC}" type="parTrans" cxnId="{01E602EF-2D83-40EF-B2C3-BC806D531B6C}">
      <dgm:prSet/>
      <dgm:spPr/>
      <dgm:t>
        <a:bodyPr/>
        <a:lstStyle/>
        <a:p>
          <a:endParaRPr lang="en-US"/>
        </a:p>
      </dgm:t>
    </dgm:pt>
    <dgm:pt modelId="{D21A9CCF-4FB5-4919-A2E0-29306456166B}" type="sibTrans" cxnId="{01E602EF-2D83-40EF-B2C3-BC806D531B6C}">
      <dgm:prSet/>
      <dgm:spPr/>
      <dgm:t>
        <a:bodyPr/>
        <a:lstStyle/>
        <a:p>
          <a:endParaRPr lang="en-US"/>
        </a:p>
      </dgm:t>
    </dgm:pt>
    <dgm:pt modelId="{45B06E82-0897-4446-8BD0-235E19A98D55}" type="pres">
      <dgm:prSet presAssocID="{BDE967C1-9190-42A5-8C3A-93EE1F406624}" presName="vert0" presStyleCnt="0">
        <dgm:presLayoutVars>
          <dgm:dir/>
          <dgm:animOne val="branch"/>
          <dgm:animLvl val="lvl"/>
        </dgm:presLayoutVars>
      </dgm:prSet>
      <dgm:spPr/>
    </dgm:pt>
    <dgm:pt modelId="{414D6B5D-8D63-4810-93E1-3D4D9CD4F982}" type="pres">
      <dgm:prSet presAssocID="{BC8FF91D-66FE-4F4F-A8BF-27562D57993E}" presName="thickLine" presStyleLbl="alignNode1" presStyleIdx="0" presStyleCnt="2"/>
      <dgm:spPr/>
    </dgm:pt>
    <dgm:pt modelId="{E3FAB1F2-A082-4A75-A448-D8A0823408C6}" type="pres">
      <dgm:prSet presAssocID="{BC8FF91D-66FE-4F4F-A8BF-27562D57993E}" presName="horz1" presStyleCnt="0"/>
      <dgm:spPr/>
    </dgm:pt>
    <dgm:pt modelId="{A689545C-027F-4AE4-901A-DB71644D5174}" type="pres">
      <dgm:prSet presAssocID="{BC8FF91D-66FE-4F4F-A8BF-27562D57993E}" presName="tx1" presStyleLbl="revTx" presStyleIdx="0" presStyleCnt="2"/>
      <dgm:spPr/>
    </dgm:pt>
    <dgm:pt modelId="{6FED186E-AE88-41CD-AC8B-A6C3719BB16B}" type="pres">
      <dgm:prSet presAssocID="{BC8FF91D-66FE-4F4F-A8BF-27562D57993E}" presName="vert1" presStyleCnt="0"/>
      <dgm:spPr/>
    </dgm:pt>
    <dgm:pt modelId="{150356F4-2C2C-4BD3-9612-D88288725697}" type="pres">
      <dgm:prSet presAssocID="{2D3EA797-863C-45D6-8DCD-CFD6AE99C234}" presName="thickLine" presStyleLbl="alignNode1" presStyleIdx="1" presStyleCnt="2"/>
      <dgm:spPr/>
    </dgm:pt>
    <dgm:pt modelId="{503733C1-B356-4CAF-BB3F-3B2E52B65660}" type="pres">
      <dgm:prSet presAssocID="{2D3EA797-863C-45D6-8DCD-CFD6AE99C234}" presName="horz1" presStyleCnt="0"/>
      <dgm:spPr/>
    </dgm:pt>
    <dgm:pt modelId="{531B1025-EBCF-4B29-A916-E1BCD49DF619}" type="pres">
      <dgm:prSet presAssocID="{2D3EA797-863C-45D6-8DCD-CFD6AE99C234}" presName="tx1" presStyleLbl="revTx" presStyleIdx="1" presStyleCnt="2"/>
      <dgm:spPr/>
    </dgm:pt>
    <dgm:pt modelId="{C2491653-19DF-4490-8429-87B9FEB65D8C}" type="pres">
      <dgm:prSet presAssocID="{2D3EA797-863C-45D6-8DCD-CFD6AE99C234}" presName="vert1" presStyleCnt="0"/>
      <dgm:spPr/>
    </dgm:pt>
  </dgm:ptLst>
  <dgm:cxnLst>
    <dgm:cxn modelId="{7A81A533-3D34-435E-A543-F5490D614DB2}" type="presOf" srcId="{2D3EA797-863C-45D6-8DCD-CFD6AE99C234}" destId="{531B1025-EBCF-4B29-A916-E1BCD49DF619}" srcOrd="0" destOrd="0" presId="urn:microsoft.com/office/officeart/2008/layout/LinedList"/>
    <dgm:cxn modelId="{2C70B84C-DC39-4A5D-BCF0-329B75593EBD}" srcId="{BDE967C1-9190-42A5-8C3A-93EE1F406624}" destId="{BC8FF91D-66FE-4F4F-A8BF-27562D57993E}" srcOrd="0" destOrd="0" parTransId="{A88FEF27-90D1-427E-866B-2F0ED123D4F3}" sibTransId="{1BCF42CA-1BA0-4131-822F-600F32CE9103}"/>
    <dgm:cxn modelId="{1D8954E6-187A-4442-8C07-71FE948BA4B5}" type="presOf" srcId="{BC8FF91D-66FE-4F4F-A8BF-27562D57993E}" destId="{A689545C-027F-4AE4-901A-DB71644D5174}" srcOrd="0" destOrd="0" presId="urn:microsoft.com/office/officeart/2008/layout/LinedList"/>
    <dgm:cxn modelId="{01E602EF-2D83-40EF-B2C3-BC806D531B6C}" srcId="{BDE967C1-9190-42A5-8C3A-93EE1F406624}" destId="{2D3EA797-863C-45D6-8DCD-CFD6AE99C234}" srcOrd="1" destOrd="0" parTransId="{F6F4BE8F-1032-4631-969F-B0AFB5B0FFEC}" sibTransId="{D21A9CCF-4FB5-4919-A2E0-29306456166B}"/>
    <dgm:cxn modelId="{1CE34FFE-3D76-4BED-8BD5-4EB25B03D3DC}" type="presOf" srcId="{BDE967C1-9190-42A5-8C3A-93EE1F406624}" destId="{45B06E82-0897-4446-8BD0-235E19A98D55}" srcOrd="0" destOrd="0" presId="urn:microsoft.com/office/officeart/2008/layout/LinedList"/>
    <dgm:cxn modelId="{50946649-FCF7-4B01-8715-BCC4766B6B49}" type="presParOf" srcId="{45B06E82-0897-4446-8BD0-235E19A98D55}" destId="{414D6B5D-8D63-4810-93E1-3D4D9CD4F982}" srcOrd="0" destOrd="0" presId="urn:microsoft.com/office/officeart/2008/layout/LinedList"/>
    <dgm:cxn modelId="{FF1273A9-7F11-4ACC-B341-81E78E957B55}" type="presParOf" srcId="{45B06E82-0897-4446-8BD0-235E19A98D55}" destId="{E3FAB1F2-A082-4A75-A448-D8A0823408C6}" srcOrd="1" destOrd="0" presId="urn:microsoft.com/office/officeart/2008/layout/LinedList"/>
    <dgm:cxn modelId="{B7FCC2F2-06EC-4B53-B9BA-3FCEE80312B9}" type="presParOf" srcId="{E3FAB1F2-A082-4A75-A448-D8A0823408C6}" destId="{A689545C-027F-4AE4-901A-DB71644D5174}" srcOrd="0" destOrd="0" presId="urn:microsoft.com/office/officeart/2008/layout/LinedList"/>
    <dgm:cxn modelId="{0467AC27-6E1A-4181-B35C-8AE8E35F8653}" type="presParOf" srcId="{E3FAB1F2-A082-4A75-A448-D8A0823408C6}" destId="{6FED186E-AE88-41CD-AC8B-A6C3719BB16B}" srcOrd="1" destOrd="0" presId="urn:microsoft.com/office/officeart/2008/layout/LinedList"/>
    <dgm:cxn modelId="{28BEC7B9-A6AF-4693-BE18-CBDCCF464AFD}" type="presParOf" srcId="{45B06E82-0897-4446-8BD0-235E19A98D55}" destId="{150356F4-2C2C-4BD3-9612-D88288725697}" srcOrd="2" destOrd="0" presId="urn:microsoft.com/office/officeart/2008/layout/LinedList"/>
    <dgm:cxn modelId="{F8633FBC-7DEA-4A5D-BEF5-E1F1CCC15D74}" type="presParOf" srcId="{45B06E82-0897-4446-8BD0-235E19A98D55}" destId="{503733C1-B356-4CAF-BB3F-3B2E52B65660}" srcOrd="3" destOrd="0" presId="urn:microsoft.com/office/officeart/2008/layout/LinedList"/>
    <dgm:cxn modelId="{8800CACE-972B-4BD4-9197-066751F77E8C}" type="presParOf" srcId="{503733C1-B356-4CAF-BB3F-3B2E52B65660}" destId="{531B1025-EBCF-4B29-A916-E1BCD49DF619}" srcOrd="0" destOrd="0" presId="urn:microsoft.com/office/officeart/2008/layout/LinedList"/>
    <dgm:cxn modelId="{59F713F7-4448-4090-A394-07847410F4F1}" type="presParOf" srcId="{503733C1-B356-4CAF-BB3F-3B2E52B65660}" destId="{C2491653-19DF-4490-8429-87B9FEB65D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D6B5D-8D63-4810-93E1-3D4D9CD4F982}">
      <dsp:nvSpPr>
        <dsp:cNvPr id="0" name=""/>
        <dsp:cNvSpPr/>
      </dsp:nvSpPr>
      <dsp:spPr>
        <a:xfrm>
          <a:off x="0" y="0"/>
          <a:ext cx="77452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545C-027F-4AE4-901A-DB71644D5174}">
      <dsp:nvSpPr>
        <dsp:cNvPr id="0" name=""/>
        <dsp:cNvSpPr/>
      </dsp:nvSpPr>
      <dsp:spPr>
        <a:xfrm>
          <a:off x="0" y="0"/>
          <a:ext cx="7745260" cy="2200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Skin cancer is one of the most common cancers worldwide, and early detection is crucial for effective treatment.</a:t>
          </a:r>
        </a:p>
      </dsp:txBody>
      <dsp:txXfrm>
        <a:off x="0" y="0"/>
        <a:ext cx="7745260" cy="2200602"/>
      </dsp:txXfrm>
    </dsp:sp>
    <dsp:sp modelId="{150356F4-2C2C-4BD3-9612-D88288725697}">
      <dsp:nvSpPr>
        <dsp:cNvPr id="0" name=""/>
        <dsp:cNvSpPr/>
      </dsp:nvSpPr>
      <dsp:spPr>
        <a:xfrm>
          <a:off x="0" y="2200602"/>
          <a:ext cx="77452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B1025-EBCF-4B29-A916-E1BCD49DF619}">
      <dsp:nvSpPr>
        <dsp:cNvPr id="0" name=""/>
        <dsp:cNvSpPr/>
      </dsp:nvSpPr>
      <dsp:spPr>
        <a:xfrm>
          <a:off x="0" y="2200602"/>
          <a:ext cx="7745260" cy="2200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goal of this project is to develop a hybrid classification system combining a deep learning convolutional neural network (CNN) with a simple rule-based model to identify skin lesions and provide interpretable predictions.</a:t>
          </a:r>
        </a:p>
      </dsp:txBody>
      <dsp:txXfrm>
        <a:off x="0" y="2200602"/>
        <a:ext cx="7745260" cy="2200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3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3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1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4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3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32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08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6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hyperlink" Target="http://commons.wikimedia.org/wiki/File:Sony_Qrio_Robot_2.png" TargetMode="External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ducation.okfn.org/copyright-reform-create-resources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58301585@N08/43267970922/in/photostream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823AB5-F5D9-6EE1-1DDC-374B679E45F7}"/>
              </a:ext>
            </a:extLst>
          </p:cNvPr>
          <p:cNvSpPr txBox="1"/>
          <p:nvPr/>
        </p:nvSpPr>
        <p:spPr>
          <a:xfrm>
            <a:off x="1515234" y="741621"/>
            <a:ext cx="932460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/>
                <a:cs typeface="Times New Roman"/>
              </a:rPr>
              <a:t>Skin Lesion Classifier</a:t>
            </a:r>
            <a:endParaRPr lang="en-US" sz="48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C07B3-1A0F-62CC-B24E-729C870A2D75}"/>
              </a:ext>
            </a:extLst>
          </p:cNvPr>
          <p:cNvSpPr txBox="1"/>
          <p:nvPr/>
        </p:nvSpPr>
        <p:spPr>
          <a:xfrm>
            <a:off x="287143" y="6270415"/>
            <a:ext cx="68044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Edvin </a:t>
            </a:r>
            <a:r>
              <a:rPr lang="en-US" dirty="0" err="1">
                <a:solidFill>
                  <a:schemeClr val="bg1"/>
                </a:solidFill>
              </a:rPr>
              <a:t>Mehaj</a:t>
            </a:r>
            <a:r>
              <a:rPr lang="en-US" dirty="0">
                <a:solidFill>
                  <a:schemeClr val="bg1"/>
                </a:solidFill>
              </a:rPr>
              <a:t> &amp; Xhoana </a:t>
            </a:r>
            <a:r>
              <a:rPr lang="en-US" dirty="0" err="1">
                <a:solidFill>
                  <a:schemeClr val="bg1"/>
                </a:solidFill>
              </a:rPr>
              <a:t>Thano</a:t>
            </a:r>
          </a:p>
        </p:txBody>
      </p:sp>
      <p:pic>
        <p:nvPicPr>
          <p:cNvPr id="8" name="Picture 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2960001-11C3-0DAB-3552-BE623E70D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369" y="351185"/>
            <a:ext cx="2377728" cy="79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C825F-13C5-7FAC-B0A0-FC5FE0D53639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topic ? 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Question Mark Why · Free image on Pixabay">
            <a:extLst>
              <a:ext uri="{FF2B5EF4-FFF2-40B4-BE49-F238E27FC236}">
                <a16:creationId xmlns:a16="http://schemas.microsoft.com/office/drawing/2014/main" id="{D3BFDCBA-3493-9BC3-B192-4841854B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302863"/>
            <a:ext cx="5536001" cy="41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7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5B3FB-D2A6-D42E-0266-C3A4F694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482F3D-A6B1-19F6-BCDB-5A0AFA5B2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69C64-47B2-BCA1-1F41-7AB10EB3EC62}"/>
              </a:ext>
            </a:extLst>
          </p:cNvPr>
          <p:cNvSpPr txBox="1"/>
          <p:nvPr/>
        </p:nvSpPr>
        <p:spPr>
          <a:xfrm>
            <a:off x="1896687" y="267620"/>
            <a:ext cx="6238827" cy="23876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topic ? 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E462C6-04AD-04E2-00B2-FE07AA932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2FA20A-33B0-BAD1-A60F-520475D57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851E91-4A2E-9338-3703-8495D1C24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84741C-1A30-CB09-02C1-F05F209B6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B0D2F-0FB4-E22D-8545-E73926A5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Question Mark Why · Free image on Pixabay">
            <a:extLst>
              <a:ext uri="{FF2B5EF4-FFF2-40B4-BE49-F238E27FC236}">
                <a16:creationId xmlns:a16="http://schemas.microsoft.com/office/drawing/2014/main" id="{B5700C04-3538-CBC6-FB48-7300B8C3C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149" y="4131658"/>
            <a:ext cx="2467124" cy="1876205"/>
          </a:xfrm>
          <a:prstGeom prst="rect">
            <a:avLst/>
          </a:prstGeom>
        </p:spPr>
      </p:pic>
      <p:pic>
        <p:nvPicPr>
          <p:cNvPr id="5" name="Picture 4" descr="A silver robot with a black background&#10;&#10;AI-generated content may be incorrect.">
            <a:extLst>
              <a:ext uri="{FF2B5EF4-FFF2-40B4-BE49-F238E27FC236}">
                <a16:creationId xmlns:a16="http://schemas.microsoft.com/office/drawing/2014/main" id="{29BF3CFF-22B8-AC40-4B3C-6722678E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83253" y="342900"/>
            <a:ext cx="4630041" cy="6172200"/>
          </a:xfrm>
          <a:prstGeom prst="rect">
            <a:avLst/>
          </a:prstGeom>
        </p:spPr>
      </p:pic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6760C27D-EC79-09B4-0E93-7102ACC8FCA8}"/>
              </a:ext>
            </a:extLst>
          </p:cNvPr>
          <p:cNvGraphicFramePr/>
          <p:nvPr/>
        </p:nvGraphicFramePr>
        <p:xfrm>
          <a:off x="1043836" y="1717110"/>
          <a:ext cx="7745260" cy="440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9913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CE985-09AA-4E61-27CD-374CCC92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-694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522100C-EB9E-C8AD-A7B9-2DFEC8F702AA}"/>
              </a:ext>
            </a:extLst>
          </p:cNvPr>
          <p:cNvSpPr txBox="1"/>
          <p:nvPr/>
        </p:nvSpPr>
        <p:spPr>
          <a:xfrm>
            <a:off x="622655" y="1201866"/>
            <a:ext cx="4641571" cy="4341178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HAM10000 dataset is a large collection of </a:t>
            </a:r>
            <a:r>
              <a:rPr lang="en-US" sz="1200" dirty="0" err="1"/>
              <a:t>dermatoscopic</a:t>
            </a:r>
            <a:r>
              <a:rPr lang="en-US" sz="1200" dirty="0"/>
              <a:t> images, containing both benign and malignant lesions.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HAM10000 dataset contains 10,015 </a:t>
            </a:r>
            <a:r>
              <a:rPr lang="en-US" sz="1200" err="1"/>
              <a:t>dermatoscopic</a:t>
            </a:r>
            <a:r>
              <a:rPr lang="en-US" sz="1200" dirty="0"/>
              <a:t> images from seven classes: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err="1"/>
              <a:t>akiec</a:t>
            </a:r>
            <a:r>
              <a:rPr lang="en-US" sz="1200" b="1" dirty="0"/>
              <a:t> (Actinic Keratoses / Intraepithelial Carcinoma) – Cancer</a:t>
            </a: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bcc (Basal Cell Carcinoma) – Cancer</a:t>
            </a: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/>
              <a:t>bkl</a:t>
            </a:r>
            <a:r>
              <a:rPr lang="en-US" sz="1200" b="1" dirty="0"/>
              <a:t> (Benign Keratosis-like Lesions)</a:t>
            </a: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/>
              <a:t>df</a:t>
            </a:r>
            <a:r>
              <a:rPr lang="en-US" sz="1200" b="1" dirty="0"/>
              <a:t> (Dermatofibroma)</a:t>
            </a: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mel (Melanoma) – Cancer</a:t>
            </a:r>
            <a:endParaRPr lang="en-US" sz="1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/>
              <a:t>nv</a:t>
            </a:r>
            <a:r>
              <a:rPr lang="en-US" sz="1200" b="1" dirty="0"/>
              <a:t> (Melanocytic Nevi) 76% of dataset 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/>
              <a:t>vasc</a:t>
            </a:r>
            <a:r>
              <a:rPr lang="en-US" sz="1200" b="1" dirty="0"/>
              <a:t> (Vascular Lesions)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1200" dirty="0"/>
              <a:t>The dataset was split into:</a:t>
            </a:r>
            <a:endParaRPr lang="en-US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Training set:</a:t>
            </a:r>
            <a:r>
              <a:rPr lang="en-US" sz="1200" dirty="0"/>
              <a:t> 7,966 images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Validation set:</a:t>
            </a:r>
            <a:r>
              <a:rPr lang="en-US" sz="1200" dirty="0"/>
              <a:t> 996 images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Test set:</a:t>
            </a:r>
            <a:r>
              <a:rPr lang="en-US" sz="1200" dirty="0"/>
              <a:t> 996 images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person and person in white coats standing next to a machine&#10;&#10;AI-generated content may be incorrect.">
            <a:extLst>
              <a:ext uri="{FF2B5EF4-FFF2-40B4-BE49-F238E27FC236}">
                <a16:creationId xmlns:a16="http://schemas.microsoft.com/office/drawing/2014/main" id="{BBC5D9EC-084C-917A-DED2-5157E2B93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87738" y="1729685"/>
            <a:ext cx="5628018" cy="31657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81A2C0-887C-1978-8D5F-224DA8404E11}"/>
              </a:ext>
            </a:extLst>
          </p:cNvPr>
          <p:cNvSpPr txBox="1"/>
          <p:nvPr/>
        </p:nvSpPr>
        <p:spPr>
          <a:xfrm>
            <a:off x="5992392" y="588038"/>
            <a:ext cx="5642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HAM1000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2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gital image of a person&amp;#39;s head&#10;&#10;AI-generated content may be incorrect.">
            <a:extLst>
              <a:ext uri="{FF2B5EF4-FFF2-40B4-BE49-F238E27FC236}">
                <a16:creationId xmlns:a16="http://schemas.microsoft.com/office/drawing/2014/main" id="{3DD14A3D-9878-21A1-3F2B-E9DCD6723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231" r="23458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4E702B-7FE2-A204-5A11-A11E271F2BD3}"/>
              </a:ext>
            </a:extLst>
          </p:cNvPr>
          <p:cNvSpPr txBox="1"/>
          <p:nvPr/>
        </p:nvSpPr>
        <p:spPr>
          <a:xfrm>
            <a:off x="6119093" y="574218"/>
            <a:ext cx="5812480" cy="655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We used </a:t>
            </a:r>
            <a:r>
              <a:rPr lang="en-US" sz="2400" b="1" dirty="0"/>
              <a:t>ResNet50</a:t>
            </a:r>
            <a:r>
              <a:rPr lang="en-US" sz="2400" dirty="0"/>
              <a:t>, a </a:t>
            </a:r>
            <a:r>
              <a:rPr lang="en-US" sz="2400" dirty="0" err="1"/>
              <a:t>deepconvolutional</a:t>
            </a:r>
            <a:r>
              <a:rPr lang="en-US" sz="2400" dirty="0"/>
              <a:t> neural </a:t>
            </a:r>
            <a:r>
              <a:rPr lang="en-US" sz="2400" dirty="0" err="1"/>
              <a:t>networkpretrained</a:t>
            </a:r>
            <a:r>
              <a:rPr lang="en-US" sz="2400" dirty="0"/>
              <a:t> on ImageNet, fine-tuned </a:t>
            </a:r>
            <a:r>
              <a:rPr lang="en-US" sz="2400" dirty="0" err="1"/>
              <a:t>onthe</a:t>
            </a:r>
            <a:r>
              <a:rPr lang="en-US" sz="2400" dirty="0"/>
              <a:t> HAM10000 dataset. Key </a:t>
            </a:r>
            <a:r>
              <a:rPr lang="en-US" sz="2400" dirty="0" err="1"/>
              <a:t>featuresof</a:t>
            </a:r>
            <a:r>
              <a:rPr lang="en-US" sz="2400" dirty="0"/>
              <a:t> the CNN: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Input images resized to 224x224pixels.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Random augmentations (</a:t>
            </a:r>
            <a:r>
              <a:rPr lang="en-US" sz="2400" dirty="0" err="1"/>
              <a:t>rotation,horizontal</a:t>
            </a:r>
            <a:r>
              <a:rPr lang="en-US" sz="2400" dirty="0"/>
              <a:t> flip, brightness/</a:t>
            </a:r>
            <a:r>
              <a:rPr lang="en-US" sz="2400" dirty="0" err="1"/>
              <a:t>contrastadjustments</a:t>
            </a:r>
            <a:r>
              <a:rPr lang="en-US" sz="2400" dirty="0"/>
              <a:t>) applied during training.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Fully connected layer modified to output seven classes.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Trained for 15 epochs using cross-entropy loss and Adam optimizer.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400" dirty="0"/>
              <a:t>The CNN predicts probabilities foreach class.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endParaRPr lang="en-US" sz="24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8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Eilik - A Desktop Companion Robot with Emotional Intelligence Multi ...">
            <a:extLst>
              <a:ext uri="{FF2B5EF4-FFF2-40B4-BE49-F238E27FC236}">
                <a16:creationId xmlns:a16="http://schemas.microsoft.com/office/drawing/2014/main" id="{E069CB29-C58A-A1C9-EE4C-E09474139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267C2D-5B78-F3A2-3134-65BCDDD88698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The ABCD rule-based method evaluates each image for: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Area of lesion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Aspect ratio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Thresholds were set to flag large or irregularly shaped lesions as potentially malignant. Instead of overriding CNN predictions, the rule-based model </a:t>
            </a:r>
            <a:r>
              <a:rPr lang="en-US" b="1"/>
              <a:t>softly boosted the probability of cancerous classes</a:t>
            </a:r>
            <a:r>
              <a:rPr lang="en-US"/>
              <a:t> (akiec, bcc, mel) when suspicious features were detected.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4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8C7F2-34E4-DACD-5599-672C7AB30EBE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hybrid prediction combines CNN outputs with the rule-based score: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CNN predicts class probabilities.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If the rule-based model flags a lesion as suspicious, the probabilities of cancerous classes are increased slightly.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Final class is determined from the adjusted probabilities.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approach preserves the CNN’s accuracy while adding interpretability and highlighting high-risk lesions.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5" name="Picture 4" descr="Images de Deux Robots – Téléchargement gratuit sur Freepik">
            <a:extLst>
              <a:ext uri="{FF2B5EF4-FFF2-40B4-BE49-F238E27FC236}">
                <a16:creationId xmlns:a16="http://schemas.microsoft.com/office/drawing/2014/main" id="{FCCF154D-DC58-1BC2-1206-3556D387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9" r="20138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2051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F14822-B1F1-4730-A131-C3416A790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50930" y="3942512"/>
            <a:ext cx="3238728" cy="2915488"/>
          </a:xfrm>
          <a:custGeom>
            <a:avLst/>
            <a:gdLst>
              <a:gd name="connsiteX0" fmla="*/ 1619364 w 3238728"/>
              <a:gd name="connsiteY0" fmla="*/ 0 h 2915488"/>
              <a:gd name="connsiteX1" fmla="*/ 3238728 w 3238728"/>
              <a:gd name="connsiteY1" fmla="*/ 1619364 h 2915488"/>
              <a:gd name="connsiteX2" fmla="*/ 2649430 w 3238728"/>
              <a:gd name="connsiteY2" fmla="*/ 2868944 h 2915488"/>
              <a:gd name="connsiteX3" fmla="*/ 2587188 w 3238728"/>
              <a:gd name="connsiteY3" fmla="*/ 2915488 h 2915488"/>
              <a:gd name="connsiteX4" fmla="*/ 651541 w 3238728"/>
              <a:gd name="connsiteY4" fmla="*/ 2915488 h 2915488"/>
              <a:gd name="connsiteX5" fmla="*/ 589298 w 3238728"/>
              <a:gd name="connsiteY5" fmla="*/ 2868944 h 2915488"/>
              <a:gd name="connsiteX6" fmla="*/ 0 w 3238728"/>
              <a:gd name="connsiteY6" fmla="*/ 1619364 h 2915488"/>
              <a:gd name="connsiteX7" fmla="*/ 1619364 w 3238728"/>
              <a:gd name="connsiteY7" fmla="*/ 0 h 291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8728" h="2915488">
                <a:moveTo>
                  <a:pt x="1619364" y="0"/>
                </a:moveTo>
                <a:cubicBezTo>
                  <a:pt x="2513714" y="0"/>
                  <a:pt x="3238728" y="725014"/>
                  <a:pt x="3238728" y="1619364"/>
                </a:cubicBezTo>
                <a:cubicBezTo>
                  <a:pt x="3238728" y="2122436"/>
                  <a:pt x="3009329" y="2571929"/>
                  <a:pt x="2649430" y="2868944"/>
                </a:cubicBezTo>
                <a:lnTo>
                  <a:pt x="2587188" y="2915488"/>
                </a:lnTo>
                <a:lnTo>
                  <a:pt x="651541" y="2915488"/>
                </a:lnTo>
                <a:lnTo>
                  <a:pt x="589298" y="2868944"/>
                </a:lnTo>
                <a:cubicBezTo>
                  <a:pt x="229399" y="2571929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3F1D6B-3845-4F68-9803-39000080E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54502" cy="4167582"/>
          </a:xfrm>
          <a:custGeom>
            <a:avLst/>
            <a:gdLst>
              <a:gd name="connsiteX0" fmla="*/ 1209514 w 4154502"/>
              <a:gd name="connsiteY0" fmla="*/ 0 h 4167582"/>
              <a:gd name="connsiteX1" fmla="*/ 2782034 w 4154502"/>
              <a:gd name="connsiteY1" fmla="*/ 0 h 4167582"/>
              <a:gd name="connsiteX2" fmla="*/ 2836049 w 4154502"/>
              <a:gd name="connsiteY2" fmla="*/ 19770 h 4167582"/>
              <a:gd name="connsiteX3" fmla="*/ 4154502 w 4154502"/>
              <a:gd name="connsiteY3" fmla="*/ 2008854 h 4167582"/>
              <a:gd name="connsiteX4" fmla="*/ 1995774 w 4154502"/>
              <a:gd name="connsiteY4" fmla="*/ 4167582 h 4167582"/>
              <a:gd name="connsiteX5" fmla="*/ 6690 w 4154502"/>
              <a:gd name="connsiteY5" fmla="*/ 2849129 h 4167582"/>
              <a:gd name="connsiteX6" fmla="*/ 0 w 4154502"/>
              <a:gd name="connsiteY6" fmla="*/ 2830852 h 4167582"/>
              <a:gd name="connsiteX7" fmla="*/ 0 w 4154502"/>
              <a:gd name="connsiteY7" fmla="*/ 1186857 h 4167582"/>
              <a:gd name="connsiteX8" fmla="*/ 6690 w 4154502"/>
              <a:gd name="connsiteY8" fmla="*/ 1168580 h 4167582"/>
              <a:gd name="connsiteX9" fmla="*/ 1155500 w 4154502"/>
              <a:gd name="connsiteY9" fmla="*/ 19770 h 416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4502" h="4167582">
                <a:moveTo>
                  <a:pt x="1209514" y="0"/>
                </a:moveTo>
                <a:lnTo>
                  <a:pt x="2782034" y="0"/>
                </a:lnTo>
                <a:lnTo>
                  <a:pt x="2836049" y="19770"/>
                </a:lnTo>
                <a:cubicBezTo>
                  <a:pt x="3610849" y="347482"/>
                  <a:pt x="4154502" y="1114679"/>
                  <a:pt x="4154502" y="2008854"/>
                </a:cubicBezTo>
                <a:cubicBezTo>
                  <a:pt x="4154502" y="3201087"/>
                  <a:pt x="3188007" y="4167582"/>
                  <a:pt x="1995774" y="4167582"/>
                </a:cubicBezTo>
                <a:cubicBezTo>
                  <a:pt x="1101599" y="4167582"/>
                  <a:pt x="334402" y="3623929"/>
                  <a:pt x="6690" y="2849129"/>
                </a:cubicBezTo>
                <a:lnTo>
                  <a:pt x="0" y="2830852"/>
                </a:lnTo>
                <a:lnTo>
                  <a:pt x="0" y="1186857"/>
                </a:lnTo>
                <a:lnTo>
                  <a:pt x="6690" y="1168580"/>
                </a:lnTo>
                <a:cubicBezTo>
                  <a:pt x="225165" y="652046"/>
                  <a:pt x="638966" y="238245"/>
                  <a:pt x="1155500" y="1977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te Happy Artificial Intelligence Robot with Colorful Balloons ...">
            <a:extLst>
              <a:ext uri="{FF2B5EF4-FFF2-40B4-BE49-F238E27FC236}">
                <a16:creationId xmlns:a16="http://schemas.microsoft.com/office/drawing/2014/main" id="{4C2BA2F6-8A55-7236-D55C-ABB8FDD6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39" r="11011" b="1"/>
          <a:stretch>
            <a:fillRect/>
          </a:stretch>
        </p:blipFill>
        <p:spPr>
          <a:xfrm>
            <a:off x="-3" y="10"/>
            <a:ext cx="4317456" cy="4167571"/>
          </a:xfrm>
          <a:custGeom>
            <a:avLst/>
            <a:gdLst/>
            <a:ahLst/>
            <a:cxnLst/>
            <a:rect l="l" t="t" r="r" b="b"/>
            <a:pathLst>
              <a:path w="4317456" h="4167581">
                <a:moveTo>
                  <a:pt x="1372466" y="0"/>
                </a:moveTo>
                <a:lnTo>
                  <a:pt x="2944990" y="0"/>
                </a:lnTo>
                <a:lnTo>
                  <a:pt x="2999002" y="19769"/>
                </a:lnTo>
                <a:cubicBezTo>
                  <a:pt x="3773802" y="347482"/>
                  <a:pt x="4317456" y="1114680"/>
                  <a:pt x="4317456" y="2008853"/>
                </a:cubicBezTo>
                <a:cubicBezTo>
                  <a:pt x="4317456" y="3201085"/>
                  <a:pt x="3350960" y="4167581"/>
                  <a:pt x="2158728" y="4167581"/>
                </a:cubicBezTo>
                <a:cubicBezTo>
                  <a:pt x="966497" y="4167581"/>
                  <a:pt x="0" y="3201085"/>
                  <a:pt x="0" y="2008853"/>
                </a:cubicBezTo>
                <a:cubicBezTo>
                  <a:pt x="0" y="1114680"/>
                  <a:pt x="543654" y="347482"/>
                  <a:pt x="1318454" y="19769"/>
                </a:cubicBezTo>
                <a:close/>
              </a:path>
            </a:pathLst>
          </a:custGeom>
        </p:spPr>
      </p:pic>
      <p:pic>
        <p:nvPicPr>
          <p:cNvPr id="4" name="Picture 3" descr="The Future of the Coding Industry">
            <a:extLst>
              <a:ext uri="{FF2B5EF4-FFF2-40B4-BE49-F238E27FC236}">
                <a16:creationId xmlns:a16="http://schemas.microsoft.com/office/drawing/2014/main" id="{AF9717FB-D428-2848-F96B-8214714B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88" r="-2" b="4192"/>
          <a:stretch>
            <a:fillRect/>
          </a:stretch>
        </p:blipFill>
        <p:spPr>
          <a:xfrm>
            <a:off x="2767505" y="3942512"/>
            <a:ext cx="3238727" cy="2915488"/>
          </a:xfrm>
          <a:custGeom>
            <a:avLst/>
            <a:gdLst/>
            <a:ahLst/>
            <a:cxnLst/>
            <a:rect l="l" t="t" r="r" b="b"/>
            <a:pathLst>
              <a:path w="3238727" h="2915488">
                <a:moveTo>
                  <a:pt x="1619364" y="0"/>
                </a:moveTo>
                <a:cubicBezTo>
                  <a:pt x="2513714" y="0"/>
                  <a:pt x="3238727" y="725014"/>
                  <a:pt x="3238727" y="1619364"/>
                </a:cubicBezTo>
                <a:cubicBezTo>
                  <a:pt x="3238727" y="2122436"/>
                  <a:pt x="3009328" y="2571928"/>
                  <a:pt x="2649429" y="2868943"/>
                </a:cubicBezTo>
                <a:lnTo>
                  <a:pt x="2587186" y="2915488"/>
                </a:lnTo>
                <a:lnTo>
                  <a:pt x="651541" y="2915488"/>
                </a:lnTo>
                <a:lnTo>
                  <a:pt x="589298" y="2868943"/>
                </a:lnTo>
                <a:cubicBezTo>
                  <a:pt x="229399" y="2571928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6C6FA52-B664-419A-A212-125E5057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825" y="1771652"/>
            <a:ext cx="3486643" cy="2754874"/>
            <a:chOff x="1303825" y="1771652"/>
            <a:chExt cx="3486643" cy="2754874"/>
          </a:xfrm>
        </p:grpSpPr>
        <p:sp>
          <p:nvSpPr>
            <p:cNvPr id="2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18953" y="17716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04045" y="3208746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1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825" y="4368981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1F9E92-DA8F-26C6-2922-0B57304D2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03884"/>
              </p:ext>
            </p:extLst>
          </p:nvPr>
        </p:nvGraphicFramePr>
        <p:xfrm>
          <a:off x="5260931" y="1555315"/>
          <a:ext cx="6278034" cy="49433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02683">
                  <a:extLst>
                    <a:ext uri="{9D8B030D-6E8A-4147-A177-3AD203B41FA5}">
                      <a16:colId xmlns:a16="http://schemas.microsoft.com/office/drawing/2014/main" val="271553317"/>
                    </a:ext>
                  </a:extLst>
                </a:gridCol>
                <a:gridCol w="1208530">
                  <a:extLst>
                    <a:ext uri="{9D8B030D-6E8A-4147-A177-3AD203B41FA5}">
                      <a16:colId xmlns:a16="http://schemas.microsoft.com/office/drawing/2014/main" val="420996055"/>
                    </a:ext>
                  </a:extLst>
                </a:gridCol>
                <a:gridCol w="1255607">
                  <a:extLst>
                    <a:ext uri="{9D8B030D-6E8A-4147-A177-3AD203B41FA5}">
                      <a16:colId xmlns:a16="http://schemas.microsoft.com/office/drawing/2014/main" val="3600430870"/>
                    </a:ext>
                  </a:extLst>
                </a:gridCol>
                <a:gridCol w="1255607">
                  <a:extLst>
                    <a:ext uri="{9D8B030D-6E8A-4147-A177-3AD203B41FA5}">
                      <a16:colId xmlns:a16="http://schemas.microsoft.com/office/drawing/2014/main" val="1262673616"/>
                    </a:ext>
                  </a:extLst>
                </a:gridCol>
                <a:gridCol w="1255607">
                  <a:extLst>
                    <a:ext uri="{9D8B030D-6E8A-4147-A177-3AD203B41FA5}">
                      <a16:colId xmlns:a16="http://schemas.microsoft.com/office/drawing/2014/main" val="3994764270"/>
                    </a:ext>
                  </a:extLst>
                </a:gridCol>
              </a:tblGrid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916697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akiec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687732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21645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bkl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282873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295055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8935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666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71309"/>
                  </a:ext>
                </a:extLst>
              </a:tr>
              <a:tr h="35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err="1"/>
                        <a:t>vasc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35929"/>
                  </a:ext>
                </a:extLst>
              </a:tr>
              <a:tr h="437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Accuracy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0.87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99688"/>
                  </a:ext>
                </a:extLst>
              </a:tr>
              <a:tr h="50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Macro Avg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548336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Weighted Avg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416675"/>
                  </a:ext>
                </a:extLst>
              </a:tr>
              <a:tr h="43744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1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522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B908408-A944-6471-E43B-0E0DFF102DD2}"/>
              </a:ext>
            </a:extLst>
          </p:cNvPr>
          <p:cNvSpPr txBox="1"/>
          <p:nvPr/>
        </p:nvSpPr>
        <p:spPr>
          <a:xfrm>
            <a:off x="5530361" y="322020"/>
            <a:ext cx="51943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109245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F7EFE-7EE9-9A76-2888-D012B3E3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693AA0-BB1E-228F-754A-65C404AF4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AD9CF79-6FB0-B649-5112-74684FBB6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50930" y="3942512"/>
            <a:ext cx="3238728" cy="2915488"/>
          </a:xfrm>
          <a:custGeom>
            <a:avLst/>
            <a:gdLst>
              <a:gd name="connsiteX0" fmla="*/ 1619364 w 3238728"/>
              <a:gd name="connsiteY0" fmla="*/ 0 h 2915488"/>
              <a:gd name="connsiteX1" fmla="*/ 3238728 w 3238728"/>
              <a:gd name="connsiteY1" fmla="*/ 1619364 h 2915488"/>
              <a:gd name="connsiteX2" fmla="*/ 2649430 w 3238728"/>
              <a:gd name="connsiteY2" fmla="*/ 2868944 h 2915488"/>
              <a:gd name="connsiteX3" fmla="*/ 2587188 w 3238728"/>
              <a:gd name="connsiteY3" fmla="*/ 2915488 h 2915488"/>
              <a:gd name="connsiteX4" fmla="*/ 651541 w 3238728"/>
              <a:gd name="connsiteY4" fmla="*/ 2915488 h 2915488"/>
              <a:gd name="connsiteX5" fmla="*/ 589298 w 3238728"/>
              <a:gd name="connsiteY5" fmla="*/ 2868944 h 2915488"/>
              <a:gd name="connsiteX6" fmla="*/ 0 w 3238728"/>
              <a:gd name="connsiteY6" fmla="*/ 1619364 h 2915488"/>
              <a:gd name="connsiteX7" fmla="*/ 1619364 w 3238728"/>
              <a:gd name="connsiteY7" fmla="*/ 0 h 291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8728" h="2915488">
                <a:moveTo>
                  <a:pt x="1619364" y="0"/>
                </a:moveTo>
                <a:cubicBezTo>
                  <a:pt x="2513714" y="0"/>
                  <a:pt x="3238728" y="725014"/>
                  <a:pt x="3238728" y="1619364"/>
                </a:cubicBezTo>
                <a:cubicBezTo>
                  <a:pt x="3238728" y="2122436"/>
                  <a:pt x="3009329" y="2571929"/>
                  <a:pt x="2649430" y="2868944"/>
                </a:cubicBezTo>
                <a:lnTo>
                  <a:pt x="2587188" y="2915488"/>
                </a:lnTo>
                <a:lnTo>
                  <a:pt x="651541" y="2915488"/>
                </a:lnTo>
                <a:lnTo>
                  <a:pt x="589298" y="2868944"/>
                </a:lnTo>
                <a:cubicBezTo>
                  <a:pt x="229399" y="2571929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1040F9F-A066-65A1-352D-51D4C21CA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54502" cy="4167582"/>
          </a:xfrm>
          <a:custGeom>
            <a:avLst/>
            <a:gdLst>
              <a:gd name="connsiteX0" fmla="*/ 1209514 w 4154502"/>
              <a:gd name="connsiteY0" fmla="*/ 0 h 4167582"/>
              <a:gd name="connsiteX1" fmla="*/ 2782034 w 4154502"/>
              <a:gd name="connsiteY1" fmla="*/ 0 h 4167582"/>
              <a:gd name="connsiteX2" fmla="*/ 2836049 w 4154502"/>
              <a:gd name="connsiteY2" fmla="*/ 19770 h 4167582"/>
              <a:gd name="connsiteX3" fmla="*/ 4154502 w 4154502"/>
              <a:gd name="connsiteY3" fmla="*/ 2008854 h 4167582"/>
              <a:gd name="connsiteX4" fmla="*/ 1995774 w 4154502"/>
              <a:gd name="connsiteY4" fmla="*/ 4167582 h 4167582"/>
              <a:gd name="connsiteX5" fmla="*/ 6690 w 4154502"/>
              <a:gd name="connsiteY5" fmla="*/ 2849129 h 4167582"/>
              <a:gd name="connsiteX6" fmla="*/ 0 w 4154502"/>
              <a:gd name="connsiteY6" fmla="*/ 2830852 h 4167582"/>
              <a:gd name="connsiteX7" fmla="*/ 0 w 4154502"/>
              <a:gd name="connsiteY7" fmla="*/ 1186857 h 4167582"/>
              <a:gd name="connsiteX8" fmla="*/ 6690 w 4154502"/>
              <a:gd name="connsiteY8" fmla="*/ 1168580 h 4167582"/>
              <a:gd name="connsiteX9" fmla="*/ 1155500 w 4154502"/>
              <a:gd name="connsiteY9" fmla="*/ 19770 h 416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4502" h="4167582">
                <a:moveTo>
                  <a:pt x="1209514" y="0"/>
                </a:moveTo>
                <a:lnTo>
                  <a:pt x="2782034" y="0"/>
                </a:lnTo>
                <a:lnTo>
                  <a:pt x="2836049" y="19770"/>
                </a:lnTo>
                <a:cubicBezTo>
                  <a:pt x="3610849" y="347482"/>
                  <a:pt x="4154502" y="1114679"/>
                  <a:pt x="4154502" y="2008854"/>
                </a:cubicBezTo>
                <a:cubicBezTo>
                  <a:pt x="4154502" y="3201087"/>
                  <a:pt x="3188007" y="4167582"/>
                  <a:pt x="1995774" y="4167582"/>
                </a:cubicBezTo>
                <a:cubicBezTo>
                  <a:pt x="1101599" y="4167582"/>
                  <a:pt x="334402" y="3623929"/>
                  <a:pt x="6690" y="2849129"/>
                </a:cubicBezTo>
                <a:lnTo>
                  <a:pt x="0" y="2830852"/>
                </a:lnTo>
                <a:lnTo>
                  <a:pt x="0" y="1186857"/>
                </a:lnTo>
                <a:lnTo>
                  <a:pt x="6690" y="1168580"/>
                </a:lnTo>
                <a:cubicBezTo>
                  <a:pt x="225165" y="652046"/>
                  <a:pt x="638966" y="238245"/>
                  <a:pt x="1155500" y="1977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te Happy Artificial Intelligence Robot with Colorful Balloons ...">
            <a:extLst>
              <a:ext uri="{FF2B5EF4-FFF2-40B4-BE49-F238E27FC236}">
                <a16:creationId xmlns:a16="http://schemas.microsoft.com/office/drawing/2014/main" id="{68B399D2-B5EF-A80A-EF3F-64BAADEB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39" r="11011" b="1"/>
          <a:stretch>
            <a:fillRect/>
          </a:stretch>
        </p:blipFill>
        <p:spPr>
          <a:xfrm>
            <a:off x="-3" y="10"/>
            <a:ext cx="4317456" cy="4167571"/>
          </a:xfrm>
          <a:custGeom>
            <a:avLst/>
            <a:gdLst/>
            <a:ahLst/>
            <a:cxnLst/>
            <a:rect l="l" t="t" r="r" b="b"/>
            <a:pathLst>
              <a:path w="4317456" h="4167581">
                <a:moveTo>
                  <a:pt x="1372466" y="0"/>
                </a:moveTo>
                <a:lnTo>
                  <a:pt x="2944990" y="0"/>
                </a:lnTo>
                <a:lnTo>
                  <a:pt x="2999002" y="19769"/>
                </a:lnTo>
                <a:cubicBezTo>
                  <a:pt x="3773802" y="347482"/>
                  <a:pt x="4317456" y="1114680"/>
                  <a:pt x="4317456" y="2008853"/>
                </a:cubicBezTo>
                <a:cubicBezTo>
                  <a:pt x="4317456" y="3201085"/>
                  <a:pt x="3350960" y="4167581"/>
                  <a:pt x="2158728" y="4167581"/>
                </a:cubicBezTo>
                <a:cubicBezTo>
                  <a:pt x="966497" y="4167581"/>
                  <a:pt x="0" y="3201085"/>
                  <a:pt x="0" y="2008853"/>
                </a:cubicBezTo>
                <a:cubicBezTo>
                  <a:pt x="0" y="1114680"/>
                  <a:pt x="543654" y="347482"/>
                  <a:pt x="1318454" y="19769"/>
                </a:cubicBezTo>
                <a:close/>
              </a:path>
            </a:pathLst>
          </a:custGeom>
        </p:spPr>
      </p:pic>
      <p:pic>
        <p:nvPicPr>
          <p:cNvPr id="4" name="Picture 3" descr="The Future of the Coding Industry">
            <a:extLst>
              <a:ext uri="{FF2B5EF4-FFF2-40B4-BE49-F238E27FC236}">
                <a16:creationId xmlns:a16="http://schemas.microsoft.com/office/drawing/2014/main" id="{37F49DD8-7063-45D9-1369-89C9DB51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88" r="-2" b="4192"/>
          <a:stretch>
            <a:fillRect/>
          </a:stretch>
        </p:blipFill>
        <p:spPr>
          <a:xfrm>
            <a:off x="2767505" y="3942512"/>
            <a:ext cx="3238727" cy="2915488"/>
          </a:xfrm>
          <a:custGeom>
            <a:avLst/>
            <a:gdLst/>
            <a:ahLst/>
            <a:cxnLst/>
            <a:rect l="l" t="t" r="r" b="b"/>
            <a:pathLst>
              <a:path w="3238727" h="2915488">
                <a:moveTo>
                  <a:pt x="1619364" y="0"/>
                </a:moveTo>
                <a:cubicBezTo>
                  <a:pt x="2513714" y="0"/>
                  <a:pt x="3238727" y="725014"/>
                  <a:pt x="3238727" y="1619364"/>
                </a:cubicBezTo>
                <a:cubicBezTo>
                  <a:pt x="3238727" y="2122436"/>
                  <a:pt x="3009328" y="2571928"/>
                  <a:pt x="2649429" y="2868943"/>
                </a:cubicBezTo>
                <a:lnTo>
                  <a:pt x="2587186" y="2915488"/>
                </a:lnTo>
                <a:lnTo>
                  <a:pt x="651541" y="2915488"/>
                </a:lnTo>
                <a:lnTo>
                  <a:pt x="589298" y="2868943"/>
                </a:lnTo>
                <a:cubicBezTo>
                  <a:pt x="229399" y="2571928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85EEF63-DB94-22CF-7B4E-E6AF697AB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825" y="1771652"/>
            <a:ext cx="3486643" cy="2754874"/>
            <a:chOff x="1303825" y="1771652"/>
            <a:chExt cx="3486643" cy="2754874"/>
          </a:xfrm>
        </p:grpSpPr>
        <p:sp>
          <p:nvSpPr>
            <p:cNvPr id="21" name="Graphic 11">
              <a:extLst>
                <a:ext uri="{FF2B5EF4-FFF2-40B4-BE49-F238E27FC236}">
                  <a16:creationId xmlns:a16="http://schemas.microsoft.com/office/drawing/2014/main" id="{4D80EC4F-4FA4-C24B-E73C-244855999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18953" y="17716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CB37C0BA-6C04-675E-290F-4CF55D0A9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04045" y="3208746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1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5E442FFE-41F1-1538-F454-7EF355C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825" y="4368981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72F70E-FF6A-B60A-EB49-5FA13ADB4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07302B-D7CA-0F19-EB73-E0A384693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84357"/>
              </p:ext>
            </p:extLst>
          </p:nvPr>
        </p:nvGraphicFramePr>
        <p:xfrm>
          <a:off x="4650441" y="1411941"/>
          <a:ext cx="7539285" cy="43801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7857">
                  <a:extLst>
                    <a:ext uri="{9D8B030D-6E8A-4147-A177-3AD203B41FA5}">
                      <a16:colId xmlns:a16="http://schemas.microsoft.com/office/drawing/2014/main" val="761608317"/>
                    </a:ext>
                  </a:extLst>
                </a:gridCol>
                <a:gridCol w="1507857">
                  <a:extLst>
                    <a:ext uri="{9D8B030D-6E8A-4147-A177-3AD203B41FA5}">
                      <a16:colId xmlns:a16="http://schemas.microsoft.com/office/drawing/2014/main" val="1678310257"/>
                    </a:ext>
                  </a:extLst>
                </a:gridCol>
                <a:gridCol w="1507857">
                  <a:extLst>
                    <a:ext uri="{9D8B030D-6E8A-4147-A177-3AD203B41FA5}">
                      <a16:colId xmlns:a16="http://schemas.microsoft.com/office/drawing/2014/main" val="323679914"/>
                    </a:ext>
                  </a:extLst>
                </a:gridCol>
                <a:gridCol w="1507857">
                  <a:extLst>
                    <a:ext uri="{9D8B030D-6E8A-4147-A177-3AD203B41FA5}">
                      <a16:colId xmlns:a16="http://schemas.microsoft.com/office/drawing/2014/main" val="58288888"/>
                    </a:ext>
                  </a:extLst>
                </a:gridCol>
                <a:gridCol w="1507857">
                  <a:extLst>
                    <a:ext uri="{9D8B030D-6E8A-4147-A177-3AD203B41FA5}">
                      <a16:colId xmlns:a16="http://schemas.microsoft.com/office/drawing/2014/main" val="841266021"/>
                    </a:ext>
                  </a:extLst>
                </a:gridCol>
              </a:tblGrid>
              <a:tr h="448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078723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akiec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608628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725736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bkl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074100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342241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62803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667856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vasc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32199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0.88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52050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Macro Avg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605124"/>
                  </a:ext>
                </a:extLst>
              </a:tr>
              <a:tr h="18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Weighted Avg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3821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50C9B-9F22-F01D-141E-E73D7F49E51C}"/>
              </a:ext>
            </a:extLst>
          </p:cNvPr>
          <p:cNvSpPr txBox="1"/>
          <p:nvPr/>
        </p:nvSpPr>
        <p:spPr>
          <a:xfrm>
            <a:off x="4956323" y="252016"/>
            <a:ext cx="63284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/>
              <a:t>HYBRID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12623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176</cp:revision>
  <dcterms:created xsi:type="dcterms:W3CDTF">2026-01-18T19:43:00Z</dcterms:created>
  <dcterms:modified xsi:type="dcterms:W3CDTF">2026-01-18T20:31:05Z</dcterms:modified>
</cp:coreProperties>
</file>